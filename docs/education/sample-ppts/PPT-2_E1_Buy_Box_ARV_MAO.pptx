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Repite esto al menos 3 veces durante la clase. Es el principio operativo más importante. La obra es ejecución; el deal se decide en la oferta.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Buy Box es el filtro que te separa de las 1,000 casas que ves al mes. Sin él, te disperses; con él, conviertes 1,000 vistas en 30 análisis y 3 ofertas.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5 son objetivas y baratas de calcular. Cualquier estudiante puede sacarlas de Zillow + Redfin en 30 minutos por ZIP. Te dan una calificación A/B/C que evita 80% de los malos deals.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Pasa por cada KPI lento. Pregunta a los estudiantes: ¿en qué momento se hizo la ganancia? Respuesta: en la oferta de $178K, no en la remodelación bien hecha. La obra fue solo no perder lo ganado.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regla del 75% no es arbitraria: 25% cubre 18% de margen objetivo + 7% de fricción real (errores, sobrecostos, comisión venta). Si compras a precio MAO o por debajo, llegas con margen incluso si la obra se descontrola.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números son críticos. Si haces solo 1-2 ofertas/mes, no cierras deal en 90 días. Volumen de ofertas = probabilidad de deal.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regla te va a doler la primera vez que descartas una casa que "te gustaba". Pero te va a salvar la inversión.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</a:rPr>
              <a:t>FLIPMENTORÍA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338560" y="1645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411480"/>
            <a:ext cx="11430000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FLIPMENTORÍA · E1 Evaluar · Buy Box, ARV y MAO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7706"/>
                </a:solidFill>
              </a:rPr>
              <a:t>FLIPMENTORÍA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247120" y="457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E1 · Evaluar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914400" y="3474720"/>
            <a:ext cx="1033272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BD5E1"/>
                </a:solidFill>
              </a:rPr>
              <a:t>"Cómo mirar números antes de enamorarte de una casa"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7548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</a:rPr>
              <a:t>5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5440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ZIP codes a calificar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0" y="47548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</a:rPr>
              <a:t>10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297680" y="5440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Comparables por casa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55280" y="47548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</a:rPr>
              <a:t>75%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955280" y="5440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La regla maestra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La premisa central de esta clase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691640"/>
            <a:ext cx="11430000" cy="1280160"/>
          </a:xfrm>
          <a:prstGeom prst="roundRect">
            <a:avLst>
              <a:gd name="adj" fmla="val 7143"/>
            </a:avLst>
          </a:prstGeom>
          <a:solidFill>
            <a:srgbClr val="1C2A40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FF3"/>
                </a:solidFill>
              </a:rPr>
              <a:t>El dinero no se gana </a:t>
            </a:r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</a:rPr>
              <a:t>remodelando bien</a:t>
            </a:r>
            <a:pPr indent="0" marL="0">
              <a:buNone/>
            </a:pPr>
            <a:r>
              <a:rPr lang="en-US" sz="1800" dirty="0">
                <a:solidFill>
                  <a:srgbClr val="EAFFF3"/>
                </a:solidFill>
              </a:rPr>
              <a:t> — se gana </a:t>
            </a:r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</a:rPr>
              <a:t>comprando bien</a:t>
            </a:r>
            <a:pPr indent="0" marL="0">
              <a:buNone/>
            </a:pPr>
            <a:r>
              <a:rPr lang="en-US" sz="1800" dirty="0">
                <a:solidFill>
                  <a:srgbClr val="EAFFF3"/>
                </a:solidFill>
              </a:rPr>
              <a:t>. Esta clase te enseña a comprar bien.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Al terminar vas a saber…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69164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16263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745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Buy Box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Las reglas exactas de qué casa SÍ y qué casa NO compras.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69164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16263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8745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83280" y="2560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ZIPs A/B/C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301752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Calificar zonas en 5 variables objetivas, sin emoción.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69164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16263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8745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217920" y="2560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ARV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301752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Estimar el valor after-repair con 10 comparables.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869680" y="169164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16263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0" y="18745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04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052560" y="2560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52560" y="301752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Calcular tu Max Allowable Offer aplicando la Regla del 75%.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Tu Buy Box — las 10 variables que defines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182880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Estrategia primaria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06240" y="18288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Flip o Rent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91072" y="182880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8288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Tipo de propiedad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66960" y="18288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SFR / Multi / Condo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" y="260604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060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Sub-mercado (ZIP codes)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06240" y="26060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5 prioritarios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260604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91072" y="260604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6060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Año de construcción mínimo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966960" y="26060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&gt; 1960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338328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3832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Tamaño habitable mínimo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06240" y="3383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≥ 1,000 sqft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17920" y="338328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91072" y="338328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3832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Habitaciones mínimas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966960" y="3383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3 BR / 2 BA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416052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416052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1605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Rango de precio (compra)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206240" y="4160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$50K–$220K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217920" y="416052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91072" y="416052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41605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Rango de remodel toleración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966960" y="4160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$15K–$60K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7200" y="493776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0352" y="493776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9377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Margen mínimo objetivo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206240" y="4937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≥ 18%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217920" y="493776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91072" y="493776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49377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Red flags inmediatas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966960" y="4937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Lista de 20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Cómo calificas un ZIP code en 5 variables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874520"/>
            <a:ext cx="4572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1783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1. Days on Market promedio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2103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A: &lt;30 días · B: 30-60 · C: &gt;60. Más rápido = más líquido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587752"/>
            <a:ext cx="4572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249631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2. Apreciación 12 meses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81635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A: &gt;5% · B: 2-5% · C: &lt;2% o negativa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300984"/>
            <a:ext cx="4572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300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3209544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3. Sale-to-list price ratio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3529584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A: ≥98% · B: 92-98% · C: &lt;92%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014216"/>
            <a:ext cx="4572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014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3922776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4. Inventario activo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4242816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A: &lt;2 meses · B: 2-4 · C: &gt;4 (mercado de comprador)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727448"/>
            <a:ext cx="4572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727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97280" y="463600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5. Drive-through cualitativo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97280" y="4956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Casas cuidadas, sin abandono, escuelas decentes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Caso real · Austin · Round Rock TX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645920"/>
            <a:ext cx="11430000" cy="640080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91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📍 512 Maple Dr · Round Rock, TX 78664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955280" y="1691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D97706"/>
                </a:solidFill>
              </a:rPr>
              <a:t>Fix &amp; Flip · ZIP 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56032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651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Compra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971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4748B"/>
                </a:solidFill>
              </a:rPr>
              <a:t>$178,000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246120" y="256032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651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Remodelación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0" y="2971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4748B"/>
                </a:solidFill>
              </a:rPr>
              <a:t>$38,000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126480" y="256032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2651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ARV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63640" y="2971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$295,000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9006840" y="256032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0" y="2651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Ganancia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0" y="2971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$41,200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365760" y="4206240"/>
            <a:ext cx="5532120" cy="137160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2976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⏱ Duración del proyecto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61772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0AF"/>
                </a:solidFill>
              </a:rPr>
              <a:t>5 meses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5989320" y="4206240"/>
            <a:ext cx="5852160" cy="137160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4297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💰 ROI del deal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72200" y="46177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47857"/>
                </a:solidFill>
              </a:rPr>
              <a:t>23%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365760" y="57150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172A"/>
                </a:solidFill>
              </a:rPr>
              <a:t>"La ganancia salió en el momento de hacer la oferta, no en la obra. Quien pagó $195K (el segundo postor) sale empatado."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La fórmula MAO — paso a paso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182880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ARV ($295,000 estimado)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06240" y="18288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$295,000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91072" y="182880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8288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× 0.75 (Regla)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66960" y="18288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$221,250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" y="260604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060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− Remodelación ($38,000)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06240" y="26060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$183,250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260604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91072" y="260604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6060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− Cierre/Holding (4% = $11,800)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966960" y="26060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$171,450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338328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3832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= MAO (lo MÁXIMO a ofrecer)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06240" y="3383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$171,450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17920" y="338328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91072" y="338328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3832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Oferta real ofrecida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966960" y="3383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$165,000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Análisis racional vs. compra emocional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5394960" cy="4297680"/>
          </a:xfrm>
          <a:prstGeom prst="roundRect">
            <a:avLst>
              <a:gd name="adj" fmla="val 3191"/>
            </a:avLst>
          </a:prstGeom>
          <a:solidFill>
            <a:srgbClr val="FEE2E2"/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</a:rPr>
              <a:t>Compra emocional (típica)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7F1D1D"/>
                </a:solidFill>
              </a:rPr>
              <a:t>✗ "Me encantó la cocina"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7F1D1D"/>
                </a:solidFill>
              </a:rPr>
              <a:t>✗ "Es la más bonita del vecindario"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7F1D1D"/>
                </a:solidFill>
              </a:rPr>
              <a:t>✗ "La conseguí $5K abajo del listado"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7F1D1D"/>
                </a:solidFill>
              </a:rPr>
              <a:t>✗ "Voy a hacerle un upgrade que la dispare"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7F1D1D"/>
                </a:solidFill>
              </a:rPr>
              <a:t>✗ "Sé que voy a sacar buena ganancia"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55080" y="1828800"/>
            <a:ext cx="5394960" cy="4297680"/>
          </a:xfrm>
          <a:prstGeom prst="roundRect">
            <a:avLst>
              <a:gd name="adj" fmla="val 3191"/>
            </a:avLst>
          </a:prstGeom>
          <a:solidFill>
            <a:srgbClr val="DCFCE7"/>
          </a:solidFill>
          <a:ln w="2540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32D"/>
                </a:solidFill>
              </a:rPr>
              <a:t>Análisis racional (Buy Box)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29400" y="265176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532D"/>
                </a:solidFill>
              </a:rPr>
              <a:t>✓ ARV: $295K basado en 10 comps recientes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532D"/>
                </a:solidFill>
              </a:rPr>
              <a:t>✓ Remodel: $38K con SOW detallado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532D"/>
                </a:solidFill>
              </a:rPr>
              <a:t>✓ MAO: $171K (no $185K que pide)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532D"/>
                </a:solidFill>
              </a:rPr>
              <a:t>✓ Oferta: $165K. Si la rechazan, descarto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532D"/>
                </a:solidFill>
              </a:rPr>
              <a:t>✓ Si la aceptan, margen 23% protegido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Tus números mínimos por mes en E1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828800"/>
            <a:ext cx="267462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965960"/>
            <a:ext cx="24003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ZIPs analizados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24003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3246120"/>
            <a:ext cx="24003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el 1er mes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23260" y="1828800"/>
            <a:ext cx="267462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60420" y="1965960"/>
            <a:ext cx="24003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Casas vistas online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60420" y="2286000"/>
            <a:ext cx="24003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~150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60420" y="3246120"/>
            <a:ext cx="24003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descarte rápido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1828800"/>
            <a:ext cx="267462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965960"/>
            <a:ext cx="24003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Análisis ARV/MAO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2286000"/>
            <a:ext cx="24003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20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217920" y="3246120"/>
            <a:ext cx="24003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tu Buy Box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38260" y="1828800"/>
            <a:ext cx="267462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75420" y="1965960"/>
            <a:ext cx="24003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Ofertas formales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75420" y="2286000"/>
            <a:ext cx="24003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10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075420" y="3246120"/>
            <a:ext cx="24003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al menos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La regla de hierro de E1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691640"/>
            <a:ext cx="11430000" cy="1371600"/>
          </a:xfrm>
          <a:prstGeom prst="roundRect">
            <a:avLst>
              <a:gd name="adj" fmla="val 6667"/>
            </a:avLst>
          </a:prstGeom>
          <a:solidFill>
            <a:srgbClr val="143726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91640"/>
            <a:ext cx="91440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288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AFFF3"/>
                </a:solidFill>
              </a:rPr>
              <a:t>Si la casa no pasa el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D97706"/>
                </a:solidFill>
              </a:rPr>
              <a:t>MAO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AFFF3"/>
                </a:solidFill>
              </a:rPr>
              <a:t>, no se ofrece —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D97706"/>
                </a:solidFill>
              </a:rPr>
              <a:t>no importa qué bonita esté.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Tu ejercicio antes de E2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691640"/>
            <a:ext cx="5440680" cy="2377440"/>
          </a:xfrm>
          <a:prstGeom prst="roundRect">
            <a:avLst>
              <a:gd name="adj" fmla="val 384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91640"/>
            <a:ext cx="544068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7452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</a:rPr>
              <a:t>EL RETO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5074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Toma una casa REAL que esté en venta en tu mejor ZIP code. Investiga 10 comparables vendidas en los últimos 90 días. Calcula ARV (conservador y optimista). Estima remodel con tu lista. Calcula MAO.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1691640"/>
            <a:ext cx="5440680" cy="2377440"/>
          </a:xfrm>
          <a:prstGeom prst="roundRect">
            <a:avLst>
              <a:gd name="adj" fmla="val 384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55080" y="1691640"/>
            <a:ext cx="54406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87452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47857"/>
                </a:solidFill>
              </a:rPr>
              <a:t>ENTREGABLE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37960" y="219456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Sube al sistema un análisis estructurado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29400" y="2697480"/>
            <a:ext cx="4983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</a:rPr>
              <a:t>URL de la propiedad + screenshot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</a:rPr>
              <a:t>Lista de 10 comparables con $/sqft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</a:rPr>
              <a:t>ARV conservador y optimista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</a:rPr>
              <a:t>Remodel estimado por niveles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</a:rPr>
              <a:t>MAO + diferencia con precio pedido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429768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4372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4297680"/>
            <a:ext cx="73152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4074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FF3"/>
                </a:solidFill>
              </a:rPr>
              <a:t>Si la diferencia entre precio pedido y MAO es mayor a 5%, esta casa NO se ofrece — se aprende, no se compra.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Lo que te llevas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2103120"/>
            <a:ext cx="36423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103120"/>
            <a:ext cx="36423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33172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2377440"/>
            <a:ext cx="2545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706"/>
                </a:solidFill>
              </a:rPr>
              <a:t>Aprendiste 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971800"/>
            <a:ext cx="3230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Calificar ZIPs en 5 variables objetivas — sin opinión personal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45280" y="2103120"/>
            <a:ext cx="36423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5280" y="2103120"/>
            <a:ext cx="36423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3880" y="233172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7388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59680" y="2377440"/>
            <a:ext cx="2545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706"/>
                </a:solidFill>
              </a:rPr>
              <a:t>Aprendiste 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73880" y="2971800"/>
            <a:ext cx="3230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Calcular MAO con la regla del 75% — fórmula no negociable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24800" y="2103120"/>
            <a:ext cx="36423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24800" y="2103120"/>
            <a:ext cx="36423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53400" y="233172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5340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839200" y="2377440"/>
            <a:ext cx="2545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706"/>
                </a:solidFill>
              </a:rPr>
              <a:t>Te comprometes 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53400" y="2971800"/>
            <a:ext cx="3230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Hacer 1 análisis ARV/MAO completo de una casa real esta semana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En E2 conseguimos el dinero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7706"/>
                </a:solidFill>
              </a:rPr>
              <a:t>FLIPMENTORÍA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i="1" dirty="0">
                <a:solidFill>
                  <a:srgbClr val="FFFFFF"/>
                </a:solidFill>
              </a:rPr>
              <a:t>"Comprar bien no es suerte. Es proceso ejecutado bajo presión sin cambiar las reglas."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BD5E1"/>
                </a:solidFill>
              </a:rPr>
              <a:t>— FlipMentoría · Clase E1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06"/>
                </a:solidFill>
              </a:rPr>
              <a:t>E1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5349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Estás aquí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0" y="45720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06"/>
                </a:solidFill>
              </a:rPr>
              <a:t>75%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297680" y="5349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Regla maestra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55280" y="45720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06"/>
                </a:solidFill>
              </a:rPr>
              <a:t>10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955280" y="5349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Ofertas/mes objetivo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FlipMentoría · Empresa 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E1 Evaluar · Buy Box, ARV y MAO</dc:title>
  <dc:subject>PptxGenJS Presentation</dc:subject>
  <dc:creator>PptxGenJS</dc:creator>
  <cp:lastModifiedBy>PptxGenJS</cp:lastModifiedBy>
  <cp:revision>1</cp:revision>
  <dcterms:created xsi:type="dcterms:W3CDTF">2026-06-03T19:58:37Z</dcterms:created>
  <dcterms:modified xsi:type="dcterms:W3CDTF">2026-06-03T19:58:37Z</dcterms:modified>
</cp:coreProperties>
</file>